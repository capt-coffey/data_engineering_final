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490" autoAdjust="0"/>
  </p:normalViewPr>
  <p:slideViewPr>
    <p:cSldViewPr snapToGrid="0" snapToObjects="1">
      <p:cViewPr varScale="1">
        <p:scale>
          <a:sx n="71" d="100"/>
          <a:sy n="71" d="100"/>
        </p:scale>
        <p:origin x="17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Daugette" userId="0c77a8eb1d747105" providerId="LiveId" clId="{23EBC8F2-3FED-4641-9A0B-6247B09A9B24}"/>
    <pc:docChg chg="undo custSel modSld">
      <pc:chgData name="Joshua Daugette" userId="0c77a8eb1d747105" providerId="LiveId" clId="{23EBC8F2-3FED-4641-9A0B-6247B09A9B24}" dt="2026-05-05T19:59:32.731" v="21" actId="6549"/>
      <pc:docMkLst>
        <pc:docMk/>
      </pc:docMkLst>
      <pc:sldChg chg="modNotesTx">
        <pc:chgData name="Joshua Daugette" userId="0c77a8eb1d747105" providerId="LiveId" clId="{23EBC8F2-3FED-4641-9A0B-6247B09A9B24}" dt="2026-05-05T19:58:19.661" v="6" actId="6549"/>
        <pc:sldMkLst>
          <pc:docMk/>
          <pc:sldMk cId="0" sldId="256"/>
        </pc:sldMkLst>
      </pc:sldChg>
      <pc:sldChg chg="modNotesTx">
        <pc:chgData name="Joshua Daugette" userId="0c77a8eb1d747105" providerId="LiveId" clId="{23EBC8F2-3FED-4641-9A0B-6247B09A9B24}" dt="2026-05-05T19:58:23.280" v="7" actId="6549"/>
        <pc:sldMkLst>
          <pc:docMk/>
          <pc:sldMk cId="0" sldId="257"/>
        </pc:sldMkLst>
      </pc:sldChg>
      <pc:sldChg chg="modNotesTx">
        <pc:chgData name="Joshua Daugette" userId="0c77a8eb1d747105" providerId="LiveId" clId="{23EBC8F2-3FED-4641-9A0B-6247B09A9B24}" dt="2026-05-05T19:58:31.518" v="9" actId="6549"/>
        <pc:sldMkLst>
          <pc:docMk/>
          <pc:sldMk cId="0" sldId="258"/>
        </pc:sldMkLst>
      </pc:sldChg>
      <pc:sldChg chg="modNotesTx">
        <pc:chgData name="Joshua Daugette" userId="0c77a8eb1d747105" providerId="LiveId" clId="{23EBC8F2-3FED-4641-9A0B-6247B09A9B24}" dt="2026-05-05T19:58:34.770" v="10" actId="6549"/>
        <pc:sldMkLst>
          <pc:docMk/>
          <pc:sldMk cId="0" sldId="259"/>
        </pc:sldMkLst>
      </pc:sldChg>
      <pc:sldChg chg="modNotesTx">
        <pc:chgData name="Joshua Daugette" userId="0c77a8eb1d747105" providerId="LiveId" clId="{23EBC8F2-3FED-4641-9A0B-6247B09A9B24}" dt="2026-05-05T19:58:38.722" v="11" actId="6549"/>
        <pc:sldMkLst>
          <pc:docMk/>
          <pc:sldMk cId="0" sldId="260"/>
        </pc:sldMkLst>
      </pc:sldChg>
      <pc:sldChg chg="modNotesTx">
        <pc:chgData name="Joshua Daugette" userId="0c77a8eb1d747105" providerId="LiveId" clId="{23EBC8F2-3FED-4641-9A0B-6247B09A9B24}" dt="2026-05-05T19:58:41.927" v="12" actId="6549"/>
        <pc:sldMkLst>
          <pc:docMk/>
          <pc:sldMk cId="0" sldId="261"/>
        </pc:sldMkLst>
      </pc:sldChg>
      <pc:sldChg chg="modNotesTx">
        <pc:chgData name="Joshua Daugette" userId="0c77a8eb1d747105" providerId="LiveId" clId="{23EBC8F2-3FED-4641-9A0B-6247B09A9B24}" dt="2026-05-05T19:58:45.349" v="13" actId="6549"/>
        <pc:sldMkLst>
          <pc:docMk/>
          <pc:sldMk cId="0" sldId="262"/>
        </pc:sldMkLst>
      </pc:sldChg>
      <pc:sldChg chg="modNotesTx">
        <pc:chgData name="Joshua Daugette" userId="0c77a8eb1d747105" providerId="LiveId" clId="{23EBC8F2-3FED-4641-9A0B-6247B09A9B24}" dt="2026-05-05T19:58:48.524" v="14" actId="6549"/>
        <pc:sldMkLst>
          <pc:docMk/>
          <pc:sldMk cId="0" sldId="263"/>
        </pc:sldMkLst>
      </pc:sldChg>
      <pc:sldChg chg="modNotesTx">
        <pc:chgData name="Joshua Daugette" userId="0c77a8eb1d747105" providerId="LiveId" clId="{23EBC8F2-3FED-4641-9A0B-6247B09A9B24}" dt="2026-05-05T19:58:52.491" v="15" actId="6549"/>
        <pc:sldMkLst>
          <pc:docMk/>
          <pc:sldMk cId="0" sldId="264"/>
        </pc:sldMkLst>
      </pc:sldChg>
      <pc:sldChg chg="modNotesTx">
        <pc:chgData name="Joshua Daugette" userId="0c77a8eb1d747105" providerId="LiveId" clId="{23EBC8F2-3FED-4641-9A0B-6247B09A9B24}" dt="2026-05-05T19:58:55.309" v="16" actId="6549"/>
        <pc:sldMkLst>
          <pc:docMk/>
          <pc:sldMk cId="0" sldId="265"/>
        </pc:sldMkLst>
      </pc:sldChg>
      <pc:sldChg chg="modNotesTx">
        <pc:chgData name="Joshua Daugette" userId="0c77a8eb1d747105" providerId="LiveId" clId="{23EBC8F2-3FED-4641-9A0B-6247B09A9B24}" dt="2026-05-05T19:59:17.427" v="17" actId="6549"/>
        <pc:sldMkLst>
          <pc:docMk/>
          <pc:sldMk cId="0" sldId="266"/>
        </pc:sldMkLst>
      </pc:sldChg>
      <pc:sldChg chg="modNotesTx">
        <pc:chgData name="Joshua Daugette" userId="0c77a8eb1d747105" providerId="LiveId" clId="{23EBC8F2-3FED-4641-9A0B-6247B09A9B24}" dt="2026-05-05T19:59:21.207" v="18" actId="6549"/>
        <pc:sldMkLst>
          <pc:docMk/>
          <pc:sldMk cId="0" sldId="267"/>
        </pc:sldMkLst>
      </pc:sldChg>
      <pc:sldChg chg="modNotesTx">
        <pc:chgData name="Joshua Daugette" userId="0c77a8eb1d747105" providerId="LiveId" clId="{23EBC8F2-3FED-4641-9A0B-6247B09A9B24}" dt="2026-05-05T19:59:24.302" v="19" actId="6549"/>
        <pc:sldMkLst>
          <pc:docMk/>
          <pc:sldMk cId="0" sldId="268"/>
        </pc:sldMkLst>
      </pc:sldChg>
      <pc:sldChg chg="modNotesTx">
        <pc:chgData name="Joshua Daugette" userId="0c77a8eb1d747105" providerId="LiveId" clId="{23EBC8F2-3FED-4641-9A0B-6247B09A9B24}" dt="2026-05-05T19:59:28.386" v="20" actId="6549"/>
        <pc:sldMkLst>
          <pc:docMk/>
          <pc:sldMk cId="0" sldId="269"/>
        </pc:sldMkLst>
      </pc:sldChg>
      <pc:sldChg chg="modNotesTx">
        <pc:chgData name="Joshua Daugette" userId="0c77a8eb1d747105" providerId="LiveId" clId="{23EBC8F2-3FED-4641-9A0B-6247B09A9B24}" dt="2026-05-05T19:59:32.731" v="21" actId="6549"/>
        <pc:sldMkLst>
          <pc:docMk/>
          <pc:sldMk cId="0" sldId="270"/>
        </pc:sldMkLst>
      </pc:sldChg>
      <pc:sldChg chg="modNotesTx">
        <pc:chgData name="Joshua Daugette" userId="0c77a8eb1d747105" providerId="LiveId" clId="{23EBC8F2-3FED-4641-9A0B-6247B09A9B24}" dt="2026-05-05T19:58:27.086" v="8" actId="6549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0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5035 — Foundations of Data Engineering  |  Spring 2026  |  Group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Neighborhood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engineering pipeline integrating crime, parcel,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Census, and weather data to produce a livability score for every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neighborhood and a machine-learning-ready feature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2793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42793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158K+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9456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2793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42793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 Scored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06640" y="42793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0664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faces compounding urban 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91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citywide property vacancy — among the highest in the 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91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concentrated in north side neighborhoods with limited resources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432304"/>
            <a:ext cx="914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3957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events: tornados, major flooding (2024), ice storms, heat waves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914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9626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distress deepening across disinvested neighborhoods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9144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5295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tool exists to see all of these challenges together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466344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challenges are studied in silos. A city planner tracking vacancy has no easy way to cross-reference crime trends or flood risk in the same view."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777240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886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platform?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Planners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1554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highest-need neighborhoods for code enforcement, infrastructure, and investment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Makers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3042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vacancy reduction or crime prevention initiatives are working over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054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feature table for building urban analytics and property value models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547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8039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evidence for neighborhood investment advocacy</a:t>
            </a: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375735D-F266-D23C-5EB1-7DB3A57B3C0E}"/>
              </a:ext>
            </a:extLst>
          </p:cNvPr>
          <p:cNvSpPr/>
          <p:nvPr/>
        </p:nvSpPr>
        <p:spPr>
          <a:xfrm>
            <a:off x="5440680" y="42565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Homebuyers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A863766-5A01-BAFD-4D21-DAD7B80D1588}"/>
              </a:ext>
            </a:extLst>
          </p:cNvPr>
          <p:cNvSpPr/>
          <p:nvPr/>
        </p:nvSpPr>
        <p:spPr>
          <a:xfrm>
            <a:off x="5440680" y="4398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snapshot a how a home fits a neighborhood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 — What We Planned vs What We Built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9 potential data sources. 5 made it into the pipeline. Here's why.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502920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60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Ingested — 5 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960120"/>
            <a:ext cx="35661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960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Ingested — 4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325880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1325880"/>
            <a:ext cx="64008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3807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SLMPD City Crime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0020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158K records · 26 months · NIBRS format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spoofing required to bypass 403 blocking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039112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2039112"/>
            <a:ext cx="64008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093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Parcels (SHP + DBF)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134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127K parcels · vacancy + assessment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4688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joined on HANDLE key · latin-1 encoding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752344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2752344"/>
            <a:ext cx="64008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07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Weather (Lambert Airport)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026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1,627 daily records · temps + precipitation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1821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new NCEI endpoint — old CDO deprecated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3465576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3465576"/>
            <a:ext cx="64008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5204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STL GTFS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73989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5,116 stops · 62 routes · 9,535 trips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89534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checkpoint — only reprocesses on schedule change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4178808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178808"/>
            <a:ext cx="64008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2336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ACS 5-Year (teammate)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4531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tracts → 79 neighborhoods via spatial overlay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6085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+ housing burden + flood zone pct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1325880"/>
            <a:ext cx="3566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94960" y="1325880"/>
            <a:ext cx="64008" cy="7680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32320" y="1380744"/>
            <a:ext cx="173736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 failure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32120" y="1380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County Crime (ArcGIS Hub)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1618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Feature Service returned auth errors. Data exists for 2021–2025 — architecture supports it.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194560"/>
            <a:ext cx="3566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94960" y="2194560"/>
            <a:ext cx="64008" cy="7680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132320" y="2249424"/>
            <a:ext cx="173736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32320" y="22494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32120" y="2249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 Requests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24871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disinvestment signal (dumping, abandoned vehicles). Available on stlouis-mo.gov — designed for v2.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94960" y="3063240"/>
            <a:ext cx="3566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394960" y="3063240"/>
            <a:ext cx="64008" cy="7680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32320" y="3118104"/>
            <a:ext cx="173736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32320" y="31181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32120" y="3118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Sale Transactions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32120" y="3355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transfers track sales velocity and investor activity. Would strengthen ML feature table significantly.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94960" y="3931920"/>
            <a:ext cx="3566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94960" y="3931920"/>
            <a:ext cx="64008" cy="7680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132320" y="3986784"/>
            <a:ext cx="173736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32320" y="39867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532120" y="3986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Real-Time Feeds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32120" y="42245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feed ingested. Real-time protobuf feeds (vehicle positions, trip updates) deferred — different parsing pipeline.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building another single-purpose dashboard, we built 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data engineering pipeline that any analyst can extend.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transform, and serve are distinct layers. Swapping out a data source or adding a new feature doesn't require rewriting the whole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notebook is idempotent, safe to re-run. MD5 checksums detect when source data hasn't changed. Deterministic train/test splits use a fixed seed.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1148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Challenges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SLMPD changed their CSV column names 4 times. The city portal blocks bots. DBF files use latin-1 encoding. We solved for each of these, not around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1148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Extension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crime_rate_per_1000 is built and waiting for population data. County crime is designed but blocked by API auth. The architecture handles what comes next.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" cy="11155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72043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/Volumes/workspace/default/raw/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SLMPD Crime CSVs (monthly)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City Parcels (Shapefile + DBF)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NOAA Weather API (JSON)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Metro GTFS (ZIP) + Census ACS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1938528"/>
            <a:ext cx="25603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73152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70491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/Volumes/workspace/default/transformed/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212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Date parse + crime type classification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Neighborhood code → name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212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Vacancy rate + assessment aggregation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Census enrichment via spatial overlay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07408" y="3236976"/>
            <a:ext cx="25603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19" y="3419856"/>
            <a:ext cx="877904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419856"/>
            <a:ext cx="73152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6893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/Volumes/workspace/default/serving/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511296"/>
            <a:ext cx="32687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neighborhood_summary (63 rows — all metrics joined)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968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neighborhood_ranking (livability scores 0–100)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511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ml_feature_table (scaled features + 80/20 split)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testable and replaceable. Parquet throughout — columnar storage with partition pruning on year/month.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SLMPD City Crime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ingested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months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through 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110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158,120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filtering unfounded reports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596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formats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SLMPD changed column names across vintages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6440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82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NIBRS standard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Incident-Based Reporting 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777240"/>
            <a:ext cx="3840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886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Solved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Schema Formats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5361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→ RptNo → report_no → IncidentNum. Built a 40-entry alias map to normalize every known column variant to canonical names.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66360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Blocking (403s)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slmpd.org blocks programmatic requests. Solution: browser-spoofing User-Agent headers. Discovered through iterative URL testing.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6636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Columns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0358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 format maps both 'offense' and 'incidentnature' to crime_description. Solved with positional coalescing — keep first non-null value.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Variants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7856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formats across years: M/D/YYYY 12:00:00 AM, YYYY-MM-DD, MM/DD/YYYY. Used regex-based format detection — F.when().rlike() not F.to_date().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Parcels · Weather · Transit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Parcels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+ DBF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127,001 parcels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1737360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8288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6851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files joined on HANDLE key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2860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15537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Shapefile: geometry (NAD27 → WGS84 reprojection)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7432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61910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Records DBF: vacancy, assessment, ward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2004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latin-1 encoding — not UTF-8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6576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 of city parcels are vacant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804672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28416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Weather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28416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REST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8416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1,627 daily records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28416" y="1737360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28416" y="1828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16916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Lambert Airport — official STL NWS station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28416" y="22860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0" y="21488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token required (ncdc.noaa.gov)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28416" y="27432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0" y="26060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NCEI endpoint — old CDO API deprecated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28416" y="32004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0" y="30632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+ Fahrenheit stored at ingest time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28416" y="36576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35204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2024 flooding + ice storm events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63056" y="804672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63056" y="804672"/>
            <a:ext cx="278892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72784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GTFS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72784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(static feed)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1435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5,116 stops · 62 routes · 9,535 trips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2784" y="1737360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72784" y="182880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9088" y="16916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metrostlouis.org/Transit/google_transit.zip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2784" y="228600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21488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checkpoint — skip if unchanged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72784" y="274320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19088" y="26060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updates ~5x/year on schedule changes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72784" y="320040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19088" y="30632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MetroBus + MetroLink (Red + Blue lines)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72784" y="365760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19088" y="35204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passing unit tests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Census ACS + Geographic Boundaries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contribution — Census ingestion + spatial overlay (KAN19/)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ACS 5-Year Estimates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340 census 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city + 236 county tracts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B19013_001E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per tract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housing_cost_burden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spending &gt;30% on housing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flood_zone_pct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67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flood zone coverage per neighborhood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neighborhood_data.csv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389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to 79 neighborhoods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170432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Join Challenge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6276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 is at tract level. Our crime and parcel data is at neighborhood level. These boundaries don't align — a tract can cross multiple neighborhoods.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Area-Weighted Overlay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6700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spatial intersection of every tract with every neighborhood. Calculate what fraction of each tract falls within each neighborhood (area_weight). Apply that weight when aggregating tract-level data up to neighborhoods.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30168"/>
            <a:ext cx="37490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648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60% of a tract is in Soulard → 60% of that tract's income is attributed to Soulard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422 tract-neighborhood pairs → neighborhood_data.csv with income, housing burden, and flood risk for all 79 neighborhoods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Transformation: Crime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158,120 records at incident grain   →   Transformed → 2,319 rows at neighborhood-month grain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Standardization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SLMPD date formats coexist across years. Used regex pattern detection (F.when().rlike()) rather than F.to_date() — Databricks serverless throws CANNOT_PARSE_TIMESTAMP on format mismatches.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207008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Type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9105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40+ NIBRS ucr_category values to four buckets: violent, property, drug, other. Based on FBI NIBRS offense definitions. Every category maps to exactly one bucket — no overlap.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Invalid Records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8529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is_unfounded='1' (reports with no factual basis) and is_crime='0' (administrative records). These flags only exist in pre-2024 data — null check prevents over-filtering 2024+ records.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64008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Neighborhood-Month Aggregation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8529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neighborhood + year + month. Used conditional aggregation (SUM WHEN crime_type='violent') to pivot crime type counts — equivalent to a SQL PIVOT without a wide reshape operation.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730752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Enrichment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teammate's neighborhood_data.csv on neighborhood name. Required normalizing 15 SLMPD name variants (e.g. 'JeffVanderLou' → 'Jeff Vanderlou') to match shapefile canonical names.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3075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730752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violent_crime_pct = violent_count / total_incidents. crime_rate_per_1000 is scaffolded and waiting for population count data (B01001_001E) — field is built, not null by design.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Transformation: Parcels + Geo Boundaries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Transform — 127,001 records → 79 neighborhood rows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Code Mapping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DBF stores NBRHD as numeric code (1–88). Built a Spark map literal (F.create_map) to translate codes to NHD_NAME. Verified against downloaded shapefile — our initial lookup table was wrong.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Normalization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stores 'Y'/'N' strings. Converted to 1/0 integer flag so vacant_parcels = SUM(is_vacant_flag) works directly in aggregation — no extra logic.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Aggregation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151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127K parcels to neighborhood grain. Excluded $0 assessed values from averages — city-owned/exempt parcels assessed at $0 would skew the mean downward.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26771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267712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vacancy_rate Derivation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151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vacant_parcels / total_parcels per neighborhood. Range: 0.4% (Southampton) to 57.4% (The Ville). 18.23% overall — matches raw data exactly.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3401568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493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Transform — Building Neighborhood Reference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8587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8130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city neighborhoods shapefile — 88 features → filtered to 79 residential (9 parks removed)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105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Reprojected NAD27 Missouri East → WGS84 · Computed centroids in projected CRS before reprojection for accuracy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439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43982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TIGER tracts for Missouri → filtered to STL City (510) + County (189) → 340 tracts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intersection at EPSG:26915 (UTM Zone 15N) for accurate area calculations → 422 tract-neighborhood pairs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— New Columns from Source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below is a new column that did not exist in any source file — derived through transformation logic: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violent_crime_pct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violent_count / total_incidents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monthly incidents classified as violent crimes per neighborhood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22199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vacancy_rate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vacant_parcels / total_parcels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parcels sitting vacant per neighborhood — 0.4% to 57.4%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1821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livability_score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avg(safety, vacancy, income, flood) × 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score — equal-weighted, min-max normalized across all 63 neighborhoods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4087368"/>
            <a:ext cx="6400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1422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safety_score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389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min-max(avg_monthly_incidents) inverted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590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crime = higher score. Franz Park = 97.4, Dutchtown = 0.0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120700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207008"/>
            <a:ext cx="64008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12618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tmax_f / tmin_f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087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(°C × 9/5) + 32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Fahrenheit temperatures derived at ingest — both units stored for analyst convenience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1671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167128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22199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area_weight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intersection_area / tract_area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670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each Census tract falling within each neighborhood — drives population apportionment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12724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127248"/>
            <a:ext cx="64008" cy="8412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31821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crime_rate_per_1000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3429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(total_incidents / population) × 1000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630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and ready — null pending Census total population data (B01001_001E)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Neighborhood Livability Ranking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(0–100) — equal-weighted average of four dimensions: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19202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42416"/>
            <a:ext cx="19202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42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42416"/>
            <a:ext cx="19202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042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042416"/>
            <a:ext cx="19202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042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2995209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34524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 Park  86.2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30552"/>
            <a:ext cx="2446203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130552"/>
            <a:ext cx="29034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 70.4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32304"/>
            <a:ext cx="225856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432304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Compton Heights  65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34056"/>
            <a:ext cx="219949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34056"/>
            <a:ext cx="26566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Boulevard Heights  63.3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35808"/>
            <a:ext cx="2196023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35808"/>
            <a:ext cx="26532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 Oak  63.2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157801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26150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 Heights  62.1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214042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39312"/>
            <a:ext cx="2597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Grove East  61.6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41064"/>
            <a:ext cx="2123054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941064"/>
            <a:ext cx="25802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 Park  61.1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42816"/>
            <a:ext cx="2123054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242816"/>
            <a:ext cx="25802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  61.1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44568"/>
            <a:ext cx="2116104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544568"/>
            <a:ext cx="2573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Botanical Heights  60.9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1828800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18288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Ville  22.2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2130552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21305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Goodfellow  22.5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432304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24323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 24.2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734056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0" y="273405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West  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035808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303580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Walnut Park East  27.4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37760" y="333756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Walnut Park West  43.5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639312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363931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Hill  26.2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941064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37760" y="39410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Vandeventer  26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242816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7760" y="42428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 Square  26.4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544568"/>
            <a:ext cx="201168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37760" y="45445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Heights  30.3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unified pipeline reveals that siloed data sources cannot: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≠ High Livability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289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 / 100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ranks 60th out of 63 neighborhoods despite having the highest median assessed property value ($1.09M avg). High crime volume (304 monthly incidents) and 31.5% vacancy rate — driven by commercial properties — drag the score down. A nuanced picture no single dataset reveals.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148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89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and Income Are Tightly Linked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1289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−0.72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 with the highest vacancy rates consistently show the lowest median incomes. The Ville: 57% vacant, $27K median income. Franz Park: 4.8% vacant, $77K median income. The pipeline quantifies what community advocates have argued qualitatively for decades.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1148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City Outperforms Expectations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2095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10: 8/10 south city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top 10 most livable neighborhoods are in south St. Louis. Franz Park, Shaw, Compton Heights, and Tower Grove East all score above 60. These are working-class neighborhoods with low vacancy, moderate crime, and strong community stability — not the wealthiest areas.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090672"/>
            <a:ext cx="41148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Rate ≠ Crime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32095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Dutchtown: 0.0 safety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54787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Dutchtown has the highest monthly crime volume but scores 93.7 on vacancy — most of the city's parcels are occupied there. Meanwhile neighborhoods with lower total crime but higher violent crime percentage rank lower on safety. Volume and composition tell different stories.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Layer: ML-Ready Feature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serving purposes: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846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1 — Analytical: neighborhood_summary + ranking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rows · 23 columns · all metrics joined · livability score 0–100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city planners, policy analysts, and neighborhood comparison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846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2 — ML: ml_feature_table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rows · target: avg_assessed_value · 8 features (raw + scaled)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 · min-max normalized · 0% nulls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 Features: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avg_monthly_incidents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3337560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avg_violent_pct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21608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vacancy_rate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721608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3721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median_income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05656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housing_cost_burden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4105656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flood_zone_pct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89704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489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avg_high_temp_f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4489704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80360" y="4489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avg_daily_precip_mm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1115568"/>
            <a:ext cx="3474720" cy="3840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table is the foundation for a neighborhood intelligence tool (i.e. click any St. Louis address and see the below):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32120" y="23042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87568" y="2258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Livability score (0–100) with dimension breakdown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68833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87568" y="2642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crime trend over the past 2 years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30723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87568" y="3026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rate vs city average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32120" y="34564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87568" y="3410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+ housing cost burden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38404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87568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zone risk level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32120" y="42245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87568" y="4178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transit stops + route coverage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&amp;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754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+ normalize raw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gtfs.py — importable, testable module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4754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901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39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join, derive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geo.py · crime.py · parcels.py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4754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151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852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+ ML outputs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analytical.py — summary + ranking + feature 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754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310128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328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Databricks runners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3328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ingest/ + transform/ + serve/ subfolders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4754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79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passing unit tests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041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files — ingest, transform crime, transform parcels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777240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886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54406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40680" y="2359152"/>
            <a:ext cx="3291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3212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test_ingest_gtfs.py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23957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tests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schema validation, coordinates, hash checkpoint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40680" y="3108960"/>
            <a:ext cx="3291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3212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test_transform_crime.py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parse, classification, aggregation, filtering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3858768"/>
            <a:ext cx="32918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3212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test_transform_parcels.py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38953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4133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mapping, vacancy normalization, aggregation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built. Here's what a production version adds.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408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Neighborhood 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7373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STL address → see livability score, crime breakdown, vacancy, flood risk in real time. Could use </a:t>
            </a:r>
            <a:r>
              <a:rPr lang="en-US" sz="1050" dirty="0" err="1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</a:t>
            </a: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Streamlit front-end directly over the serving layer Parquet tables.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2984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18688" y="1298448"/>
            <a:ext cx="27432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8416" y="1408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28416" y="17373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Jobs: crime monthly, GTFS weekly (MD5 checkpoint already built), NOAA daily, parcels weekly. Architecture is ready — jobs not yet configured.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2984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63056" y="1298448"/>
            <a:ext cx="27432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408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County Crime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7373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NIBRS datasets on ArcGIS Hub for 2021–2025. Architecture supports it — blocked by ArcGIS Feature Service API authentication issues during development.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236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 Requests + Property Sales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311 data captures illegal dumping, abandoned vehicles, building violations. Deed transfers track sales velocity and investor activity. Both would strengthen the ML feature table significantly.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31272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3127248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28416" y="3236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crime_rate_per_1000 Completion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28416" y="3566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built and waiting. Requires Census total population (B01001_001E) — currently only median income is in the ACS pull. One-line change once population data is added.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3127248"/>
            <a:ext cx="274320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3127248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3236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Livability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566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equal-weighting is a transparent starting point. Production version derives weights from community input or policy priorities — e.g. weight safety higher for a public safety application.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2897</Words>
  <Application>Microsoft Office PowerPoint</Application>
  <PresentationFormat>On-screen Show (16:9)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 Neighborhood Intelligence Pipeline</dc:title>
  <dc:subject>PptxGenJS Presentation</dc:subject>
  <dc:creator>Josh Coffey</dc:creator>
  <cp:lastModifiedBy>Joshua Daugette</cp:lastModifiedBy>
  <cp:revision>4</cp:revision>
  <dcterms:created xsi:type="dcterms:W3CDTF">2026-04-30T02:02:05Z</dcterms:created>
  <dcterms:modified xsi:type="dcterms:W3CDTF">2026-05-05T19:59:35Z</dcterms:modified>
</cp:coreProperties>
</file>